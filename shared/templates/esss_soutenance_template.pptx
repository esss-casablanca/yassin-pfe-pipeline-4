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9" r:id="rId15"/>
    <p:sldId id="272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822-4C14-8D73-30211B5D2FAB}"/>
              </c:ext>
            </c:extLst>
          </c:dPt>
          <c:cat>
            <c:strRef>
              <c:f>Feuil1!$A$2:$A$20</c:f>
              <c:strCache>
                <c:ptCount val="19"/>
                <c:pt idx="0">
                  <c:v>Saudi Arabia</c:v>
                </c:pt>
                <c:pt idx="1">
                  <c:v>Kuwait</c:v>
                </c:pt>
                <c:pt idx="2">
                  <c:v>Qatar</c:v>
                </c:pt>
                <c:pt idx="3">
                  <c:v>Bahrain</c:v>
                </c:pt>
                <c:pt idx="4">
                  <c:v>United Arab Emirates</c:v>
                </c:pt>
                <c:pt idx="5">
                  <c:v>Egypt</c:v>
                </c:pt>
                <c:pt idx="6">
                  <c:v>Lebanon</c:v>
                </c:pt>
                <c:pt idx="7">
                  <c:v>Oman</c:v>
                </c:pt>
                <c:pt idx="8">
                  <c:v>Jordan</c:v>
                </c:pt>
                <c:pt idx="9">
                  <c:v>Iran</c:v>
                </c:pt>
                <c:pt idx="10">
                  <c:v>Libya</c:v>
                </c:pt>
                <c:pt idx="11">
                  <c:v>Iraq</c:v>
                </c:pt>
                <c:pt idx="12">
                  <c:v>Tunisia</c:v>
                </c:pt>
                <c:pt idx="13">
                  <c:v>West Bank and Gaza</c:v>
                </c:pt>
                <c:pt idx="14">
                  <c:v>Syrian Arab Republic</c:v>
                </c:pt>
                <c:pt idx="15">
                  <c:v>Morocco</c:v>
                </c:pt>
                <c:pt idx="16">
                  <c:v>Algeria</c:v>
                </c:pt>
                <c:pt idx="17">
                  <c:v>Djibouti</c:v>
                </c:pt>
                <c:pt idx="18">
                  <c:v>Malta</c:v>
                </c:pt>
              </c:strCache>
            </c:strRef>
          </c:cat>
          <c:val>
            <c:numRef>
              <c:f>Feuil1!$B$2:$B$20</c:f>
              <c:numCache>
                <c:formatCode>General</c:formatCode>
                <c:ptCount val="19"/>
                <c:pt idx="0">
                  <c:v>23.9</c:v>
                </c:pt>
                <c:pt idx="1">
                  <c:v>23.1</c:v>
                </c:pt>
                <c:pt idx="2">
                  <c:v>22.9</c:v>
                </c:pt>
                <c:pt idx="3">
                  <c:v>21.8</c:v>
                </c:pt>
                <c:pt idx="4">
                  <c:v>19</c:v>
                </c:pt>
                <c:pt idx="5">
                  <c:v>16.8</c:v>
                </c:pt>
                <c:pt idx="6">
                  <c:v>15</c:v>
                </c:pt>
                <c:pt idx="7">
                  <c:v>14.2</c:v>
                </c:pt>
                <c:pt idx="8">
                  <c:v>11.4</c:v>
                </c:pt>
                <c:pt idx="9">
                  <c:v>9.9</c:v>
                </c:pt>
                <c:pt idx="10">
                  <c:v>9.9</c:v>
                </c:pt>
                <c:pt idx="11">
                  <c:v>9.5</c:v>
                </c:pt>
                <c:pt idx="12">
                  <c:v>9.4</c:v>
                </c:pt>
                <c:pt idx="13">
                  <c:v>9.1</c:v>
                </c:pt>
                <c:pt idx="14">
                  <c:v>8.9</c:v>
                </c:pt>
                <c:pt idx="15">
                  <c:v>7.8</c:v>
                </c:pt>
                <c:pt idx="16">
                  <c:v>7.5</c:v>
                </c:pt>
                <c:pt idx="17">
                  <c:v>6.8</c:v>
                </c:pt>
                <c:pt idx="18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2-4C14-8D73-30211B5D2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257340432"/>
        <c:axId val="257343712"/>
      </c:barChart>
      <c:catAx>
        <c:axId val="257340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57343712"/>
        <c:crosses val="autoZero"/>
        <c:auto val="1"/>
        <c:lblAlgn val="ctr"/>
        <c:lblOffset val="100"/>
        <c:noMultiLvlLbl val="0"/>
      </c:catAx>
      <c:valAx>
        <c:axId val="25734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57340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8-4F5B-B316-3EE459BF33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98-4F5B-B316-3EE459BF33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98-4F5B-B316-3EE459BF3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7666696"/>
        <c:axId val="377666368"/>
      </c:barChart>
      <c:catAx>
        <c:axId val="377666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7666368"/>
        <c:crosses val="autoZero"/>
        <c:auto val="1"/>
        <c:lblAlgn val="ctr"/>
        <c:lblOffset val="100"/>
        <c:noMultiLvlLbl val="0"/>
      </c:catAx>
      <c:valAx>
        <c:axId val="377666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7666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Titre : </a:t>
            </a:r>
            <a:r>
              <a:rPr lang="en-GB" dirty="0" err="1"/>
              <a:t>wxz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945-402E-9A6B-1D4C42058CD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945-402E-9A6B-1D4C42058CD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945-402E-9A6B-1D4C42058CD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945-402E-9A6B-1D4C42058CDE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98-4F5B-B316-3EE459BF33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945-402E-9A6B-1D4C42058CD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945-402E-9A6B-1D4C42058CD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945-402E-9A6B-1D4C42058CD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945-402E-9A6B-1D4C42058CDE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98-4F5B-B316-3EE459BF33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945-402E-9A6B-1D4C42058CD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945-402E-9A6B-1D4C42058CD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0945-402E-9A6B-1D4C42058CD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0945-402E-9A6B-1D4C42058CDE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98-4F5B-B316-3EE459BF3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98-4F5B-B316-3EE459BF33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98-4F5B-B316-3EE459BF33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98-4F5B-B316-3EE459BF330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77666696"/>
        <c:axId val="377666368"/>
      </c:lineChart>
      <c:catAx>
        <c:axId val="377666696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7666368"/>
        <c:crosses val="autoZero"/>
        <c:auto val="1"/>
        <c:lblAlgn val="ctr"/>
        <c:lblOffset val="100"/>
        <c:noMultiLvlLbl val="0"/>
      </c:catAx>
      <c:valAx>
        <c:axId val="377666368"/>
        <c:scaling>
          <c:orientation val="minMax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7666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Image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6" y="3462919"/>
            <a:ext cx="2035611" cy="2035611"/>
          </a:xfrm>
          <a:prstGeom prst="rect">
            <a:avLst/>
          </a:prstGeom>
        </p:spPr>
      </p:pic>
      <p:sp>
        <p:nvSpPr>
          <p:cNvPr id="9" name="ZoneTexte 8"/>
          <p:cNvSpPr txBox="1"/>
          <p:nvPr userDrawn="1"/>
        </p:nvSpPr>
        <p:spPr>
          <a:xfrm>
            <a:off x="3042900" y="4045901"/>
            <a:ext cx="7273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PROJET DE FINE D’ETUDES</a:t>
            </a:r>
            <a:endParaRPr lang="en-US" sz="240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24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ANNEE UNIVERSITAIRE 2021/2022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7" y="614407"/>
            <a:ext cx="10010464" cy="1189298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9695417" cy="1013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Titre du projet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300" y="583404"/>
            <a:ext cx="1339291" cy="13392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264" y="955865"/>
            <a:ext cx="2026227" cy="20262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0004768" cy="1258827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705807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300" y="583404"/>
            <a:ext cx="1339291" cy="13392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0004768" cy="1258827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653852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300" y="583404"/>
            <a:ext cx="1339291" cy="13392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0010067" cy="1258827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9700715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300" y="583404"/>
            <a:ext cx="1339291" cy="13392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5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Titre du projet de fin d’études</a:t>
            </a:r>
            <a:endParaRPr lang="en-US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Nom et prénom de l’étudiant</a:t>
            </a:r>
          </a:p>
        </p:txBody>
      </p:sp>
    </p:spTree>
    <p:extLst>
      <p:ext uri="{BB962C8B-B14F-4D97-AF65-F5344CB8AC3E}">
        <p14:creationId xmlns:p14="http://schemas.microsoft.com/office/powerpoint/2010/main" val="267832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 VOULEZ-VOUS ÉTUDIER EXACTEMENT?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Prévalence et facteurs de risque </a:t>
            </a:r>
          </a:p>
          <a:p>
            <a:r>
              <a:rPr lang="fr-FR" dirty="0"/>
              <a:t>de complications </a:t>
            </a:r>
            <a:r>
              <a:rPr lang="fr-FR" dirty="0" err="1"/>
              <a:t>périopératoires</a:t>
            </a:r>
            <a:r>
              <a:rPr lang="fr-FR" dirty="0"/>
              <a:t> </a:t>
            </a:r>
          </a:p>
          <a:p>
            <a:r>
              <a:rPr lang="fr-FR" dirty="0"/>
              <a:t>chez les patients adultes </a:t>
            </a:r>
          </a:p>
          <a:p>
            <a:r>
              <a:rPr lang="fr-FR" dirty="0"/>
              <a:t>atteints de diabète de type 2 </a:t>
            </a:r>
          </a:p>
          <a:p>
            <a:r>
              <a:rPr lang="fr-FR" dirty="0"/>
              <a:t>subissant une chirurgie élective</a:t>
            </a:r>
          </a:p>
          <a:p>
            <a:r>
              <a:rPr lang="fr-FR" dirty="0"/>
              <a:t>dans les hôpitaux publics de Casablanca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33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Rationale</a:t>
            </a:r>
            <a:r>
              <a:rPr lang="fr-FR" dirty="0"/>
              <a:t> et pertinence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 points </a:t>
            </a:r>
            <a:r>
              <a:rPr lang="en-US" dirty="0" err="1"/>
              <a:t>clés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9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ce sujet est-il important?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Prévalence élevée et croissante du diabète sucré au Maroc</a:t>
            </a:r>
          </a:p>
          <a:p>
            <a:r>
              <a:rPr lang="fr-FR" dirty="0"/>
              <a:t>Risque accru de pathologies chirurgicales chez les patients diabétiques</a:t>
            </a:r>
          </a:p>
          <a:p>
            <a:r>
              <a:rPr lang="fr-FR" dirty="0"/>
              <a:t>Risque élevé d'anesthésie chez les patients diabétiques</a:t>
            </a:r>
          </a:p>
          <a:p>
            <a:r>
              <a:rPr lang="fr-FR" dirty="0"/>
              <a:t>Le sujet a rarement été étudié au Maroc</a:t>
            </a:r>
          </a:p>
          <a:p>
            <a:r>
              <a:rPr lang="fr-FR" dirty="0"/>
              <a:t>Applicabilité des résultats</a:t>
            </a:r>
          </a:p>
          <a:p>
            <a:r>
              <a:rPr lang="fr-FR" dirty="0"/>
              <a:t>Pertinence du sujet pour la santé publique au Maroc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24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Prévalence élevée et croissante du diabète sucré au Maroc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10% des Marocains seraient atteints de diabète sucré</a:t>
            </a:r>
          </a:p>
          <a:p>
            <a:r>
              <a:rPr lang="fr-FR" dirty="0"/>
              <a:t>1,5 million de personnes atteintes de diabète sucré au Maroc</a:t>
            </a:r>
          </a:p>
          <a:p>
            <a:r>
              <a:rPr lang="fr-FR" dirty="0"/>
              <a:t>En chiffres absolus, le Maroc se classe au quatrième rang des pays du Moyen-Orient et d'Afrique du Nord</a:t>
            </a:r>
          </a:p>
          <a:p>
            <a:r>
              <a:rPr lang="fr-FR" dirty="0"/>
              <a:t>La prévalence augmente en raison de la prévalence accrue des principaux facteurs de risque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8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50" y="718498"/>
            <a:ext cx="11374535" cy="5940034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414345" y="2091559"/>
            <a:ext cx="1650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7.0 – 8.1%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/>
          <p:cNvCxnSpPr>
            <a:stCxn id="4" idx="2"/>
          </p:cNvCxnSpPr>
          <p:nvPr/>
        </p:nvCxnSpPr>
        <p:spPr>
          <a:xfrm>
            <a:off x="5239407" y="2460891"/>
            <a:ext cx="509752" cy="47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72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/>
          <p:cNvGraphicFramePr/>
          <p:nvPr>
            <p:extLst>
              <p:ext uri="{D42A27DB-BD31-4B8C-83A1-F6EECF244321}">
                <p14:modId xmlns:p14="http://schemas.microsoft.com/office/powerpoint/2010/main" val="2913461248"/>
              </p:ext>
            </p:extLst>
          </p:nvPr>
        </p:nvGraphicFramePr>
        <p:xfrm>
          <a:off x="491490" y="1828800"/>
          <a:ext cx="11087100" cy="4309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Prévalence du diabète sucré au Moyen-Orient et en Afrique du Nord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0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Pathologies chirurgicales chez les patients diabétiques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Pathologies liées aux complications du diabète sucré</a:t>
            </a:r>
          </a:p>
          <a:p>
            <a:pPr lvl="1"/>
            <a:r>
              <a:rPr lang="fr-FR" dirty="0"/>
              <a:t>les reins (néphropathie)</a:t>
            </a:r>
          </a:p>
          <a:p>
            <a:pPr lvl="1"/>
            <a:r>
              <a:rPr lang="fr-FR" dirty="0"/>
              <a:t>les yeux (rétinopathie)</a:t>
            </a:r>
          </a:p>
          <a:p>
            <a:pPr lvl="1"/>
            <a:r>
              <a:rPr lang="fr-FR" dirty="0"/>
              <a:t>le système neurologique (neuropathie)</a:t>
            </a:r>
          </a:p>
          <a:p>
            <a:pPr lvl="1"/>
            <a:r>
              <a:rPr lang="fr-FR" dirty="0"/>
              <a:t>le cœur (infarctus)</a:t>
            </a:r>
          </a:p>
          <a:p>
            <a:pPr lvl="1"/>
            <a:r>
              <a:rPr lang="fr-FR" dirty="0"/>
              <a:t>les vaisseaux sanguins (Accident vasculaire cérébral)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Pathologies chirurgicales chez les patients diabétiques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Pathologies liées aux facteurs de risque du diabète sucré</a:t>
            </a:r>
          </a:p>
          <a:p>
            <a:pPr lvl="1"/>
            <a:r>
              <a:rPr lang="fr-FR" dirty="0"/>
              <a:t>Obésité (multiple)</a:t>
            </a:r>
          </a:p>
          <a:p>
            <a:pPr lvl="1"/>
            <a:r>
              <a:rPr lang="fr-FR" dirty="0"/>
              <a:t>Inactivité physique (complication </a:t>
            </a:r>
            <a:r>
              <a:rPr lang="fr-FR" dirty="0" err="1"/>
              <a:t>ostéoarticulaire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Fumer (cancer)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25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Risque élevé d'anesthésie du patient diabétique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81193" y="2250892"/>
            <a:ext cx="5393101" cy="536005"/>
          </a:xfrm>
        </p:spPr>
        <p:txBody>
          <a:bodyPr/>
          <a:lstStyle/>
          <a:p>
            <a:r>
              <a:rPr lang="fr-FR" sz="2400" b="1" dirty="0"/>
              <a:t>Risques posé par le malade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Macro-</a:t>
            </a:r>
            <a:r>
              <a:rPr lang="en-US" sz="2400" dirty="0" err="1"/>
              <a:t>angiopathie</a:t>
            </a:r>
            <a:endParaRPr lang="en-US" sz="2400" dirty="0"/>
          </a:p>
          <a:p>
            <a:r>
              <a:rPr lang="en-US" sz="2400" dirty="0"/>
              <a:t>Micro-</a:t>
            </a:r>
            <a:r>
              <a:rPr lang="en-US" sz="2400" dirty="0" err="1"/>
              <a:t>angiopathie</a:t>
            </a:r>
            <a:endParaRPr lang="en-US" sz="2400" dirty="0"/>
          </a:p>
          <a:p>
            <a:r>
              <a:rPr lang="en-US" sz="2400" dirty="0"/>
              <a:t>Complications </a:t>
            </a:r>
            <a:r>
              <a:rPr lang="en-US" sz="2400" dirty="0" err="1"/>
              <a:t>métaboliques</a:t>
            </a:r>
            <a:endParaRPr lang="en-US" sz="2400" dirty="0"/>
          </a:p>
          <a:p>
            <a:r>
              <a:rPr lang="en-US" sz="2400" dirty="0" err="1"/>
              <a:t>Autres</a:t>
            </a:r>
            <a:r>
              <a:rPr lang="en-US" sz="2400" dirty="0"/>
              <a:t> complications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217709" y="2250892"/>
            <a:ext cx="5393099" cy="553373"/>
          </a:xfrm>
        </p:spPr>
        <p:txBody>
          <a:bodyPr/>
          <a:lstStyle/>
          <a:p>
            <a:r>
              <a:rPr lang="fr-FR" sz="2400" b="1" dirty="0"/>
              <a:t>Risques posé par le traitement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Les </a:t>
            </a:r>
            <a:r>
              <a:rPr lang="en-US" sz="2400" dirty="0" err="1"/>
              <a:t>sulfamides</a:t>
            </a:r>
            <a:r>
              <a:rPr lang="en-US" sz="2400" dirty="0"/>
              <a:t> </a:t>
            </a:r>
            <a:r>
              <a:rPr lang="en-US" sz="2400" dirty="0" err="1"/>
              <a:t>hypoglycémiants</a:t>
            </a:r>
            <a:endParaRPr lang="en-US" sz="2400" dirty="0"/>
          </a:p>
          <a:p>
            <a:pPr lvl="1"/>
            <a:r>
              <a:rPr lang="en-US" sz="2400" dirty="0"/>
              <a:t>Les </a:t>
            </a:r>
            <a:r>
              <a:rPr lang="en-US" sz="2400" dirty="0" err="1"/>
              <a:t>biguanides</a:t>
            </a:r>
            <a:endParaRPr lang="en-US" sz="2400" dirty="0"/>
          </a:p>
          <a:p>
            <a:pPr lvl="1"/>
            <a:r>
              <a:rPr lang="en-US" sz="2400" dirty="0"/>
              <a:t>Les </a:t>
            </a:r>
            <a:r>
              <a:rPr lang="en-US" sz="2400" dirty="0" err="1"/>
              <a:t>glinides</a:t>
            </a:r>
            <a:endParaRPr lang="en-US" sz="2400" dirty="0"/>
          </a:p>
          <a:p>
            <a:pPr lvl="1"/>
            <a:r>
              <a:rPr lang="en-US" sz="2400" dirty="0" err="1"/>
              <a:t>Inhibiteurs</a:t>
            </a:r>
            <a:r>
              <a:rPr lang="en-US" sz="2400" dirty="0"/>
              <a:t> de </a:t>
            </a:r>
            <a:r>
              <a:rPr lang="en-US" sz="2400" dirty="0" err="1"/>
              <a:t>l'alpha</a:t>
            </a:r>
            <a:r>
              <a:rPr lang="en-US" sz="2400" dirty="0"/>
              <a:t> glucosides</a:t>
            </a:r>
          </a:p>
        </p:txBody>
      </p:sp>
    </p:spTree>
    <p:extLst>
      <p:ext uri="{BB962C8B-B14F-4D97-AF65-F5344CB8AC3E}">
        <p14:creationId xmlns:p14="http://schemas.microsoft.com/office/powerpoint/2010/main" val="161783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Risque élevé d'anesthésie du patient diabétique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81193" y="2250892"/>
            <a:ext cx="5393101" cy="536005"/>
          </a:xfrm>
        </p:spPr>
        <p:txBody>
          <a:bodyPr/>
          <a:lstStyle/>
          <a:p>
            <a:r>
              <a:rPr lang="fr-FR" sz="2400" b="1" dirty="0"/>
              <a:t>Risques posé par l’anesthésie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fr-FR" sz="2400" dirty="0"/>
              <a:t>Intubation difficile</a:t>
            </a:r>
          </a:p>
          <a:p>
            <a:r>
              <a:rPr lang="fr-FR" sz="2400" dirty="0"/>
              <a:t>Inhalation à l’intubation et à l’extubation </a:t>
            </a:r>
          </a:p>
          <a:p>
            <a:r>
              <a:rPr lang="fr-FR" sz="2400" dirty="0"/>
              <a:t>Masque l’hypoglycémie +++</a:t>
            </a:r>
          </a:p>
          <a:p>
            <a:r>
              <a:rPr lang="fr-FR" sz="2400" dirty="0"/>
              <a:t>Risque d’instabilité hémodynamique</a:t>
            </a:r>
          </a:p>
          <a:p>
            <a:r>
              <a:rPr lang="fr-FR" sz="2400" dirty="0"/>
              <a:t>Nausées vomissement post opératoire </a:t>
            </a:r>
          </a:p>
          <a:p>
            <a:r>
              <a:rPr lang="fr-FR" sz="2400" dirty="0"/>
              <a:t>Augmentation du stress chirurgicale +++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217709" y="2250892"/>
            <a:ext cx="5393099" cy="553373"/>
          </a:xfrm>
        </p:spPr>
        <p:txBody>
          <a:bodyPr/>
          <a:lstStyle/>
          <a:p>
            <a:r>
              <a:rPr lang="fr-FR" sz="2400" b="1" dirty="0"/>
              <a:t>Risques posé par la chirurgie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fr-FR" sz="2400" dirty="0"/>
              <a:t>Stress lié à la chirurgie (hyperglycémie).</a:t>
            </a:r>
          </a:p>
          <a:p>
            <a:pPr lvl="1"/>
            <a:r>
              <a:rPr lang="fr-FR" sz="2400" dirty="0"/>
              <a:t>Durée et position</a:t>
            </a:r>
          </a:p>
          <a:p>
            <a:pPr lvl="1"/>
            <a:r>
              <a:rPr lang="fr-FR" sz="2400" dirty="0"/>
              <a:t>Risque hémorragique </a:t>
            </a:r>
          </a:p>
          <a:p>
            <a:pPr lvl="1"/>
            <a:r>
              <a:rPr lang="fr-FR" sz="2400" dirty="0"/>
              <a:t>Risque infectieux, thromboembolique </a:t>
            </a:r>
          </a:p>
          <a:p>
            <a:pPr lvl="1"/>
            <a:r>
              <a:rPr lang="fr-FR" sz="2400" dirty="0"/>
              <a:t>Le caractère urgent </a:t>
            </a:r>
          </a:p>
          <a:p>
            <a:pPr lvl="1"/>
            <a:r>
              <a:rPr lang="fr-FR" sz="2400" dirty="0"/>
              <a:t>Ira post opératoire </a:t>
            </a:r>
          </a:p>
          <a:p>
            <a:pPr lvl="1"/>
            <a:r>
              <a:rPr lang="fr-FR" sz="2400" dirty="0"/>
              <a:t>Douleur post opératoire </a:t>
            </a:r>
          </a:p>
        </p:txBody>
      </p:sp>
    </p:spTree>
    <p:extLst>
      <p:ext uri="{BB962C8B-B14F-4D97-AF65-F5344CB8AC3E}">
        <p14:creationId xmlns:p14="http://schemas.microsoft.com/office/powerpoint/2010/main" val="1659362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Méthodologie</a:t>
            </a:r>
            <a:r>
              <a:rPr lang="en-US" dirty="0"/>
              <a:t> de </a:t>
            </a:r>
            <a:r>
              <a:rPr lang="en-US" dirty="0" err="1"/>
              <a:t>recherche</a:t>
            </a:r>
            <a:endParaRPr lang="en-US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7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Conception de l'étude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Étude rétrospective</a:t>
            </a:r>
          </a:p>
          <a:p>
            <a:r>
              <a:rPr lang="fr-FR" dirty="0"/>
              <a:t>Révision des dossiers anesthésiques et chirurgicaux </a:t>
            </a:r>
          </a:p>
          <a:p>
            <a:r>
              <a:rPr lang="fr-FR" dirty="0"/>
              <a:t>De toutes les chirurgies non urgentes </a:t>
            </a:r>
          </a:p>
          <a:p>
            <a:r>
              <a:rPr lang="fr-FR" dirty="0"/>
              <a:t>Dans quatre hôpitaux sélectionnés </a:t>
            </a:r>
          </a:p>
          <a:p>
            <a:r>
              <a:rPr lang="fr-FR" dirty="0"/>
              <a:t>Au cours d'une année complète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77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Définition opérationnelle des variables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Définition du Diabète de type 2</a:t>
            </a:r>
            <a:endParaRPr lang="en-US" dirty="0"/>
          </a:p>
          <a:p>
            <a:pPr lvl="1"/>
            <a:r>
              <a:rPr lang="fr-FR" dirty="0"/>
              <a:t>une glycémie supérieure à 1,26 g/l (7,0 </a:t>
            </a:r>
            <a:r>
              <a:rPr lang="fr-FR" dirty="0" err="1"/>
              <a:t>mmol</a:t>
            </a:r>
            <a:r>
              <a:rPr lang="fr-FR" dirty="0"/>
              <a:t>/l) après un jeûne de 8 heures et vérifiée à deux reprises ;</a:t>
            </a:r>
          </a:p>
          <a:p>
            <a:pPr lvl="1"/>
            <a:r>
              <a:rPr lang="fr-FR" dirty="0"/>
              <a:t>ou une glycémie (sur plasma veineux) supérieure ou égale à 2 g/l (11,1 </a:t>
            </a:r>
            <a:r>
              <a:rPr lang="fr-FR" dirty="0" err="1"/>
              <a:t>mmol</a:t>
            </a:r>
            <a:r>
              <a:rPr lang="fr-FR" dirty="0"/>
              <a:t>/l) 2 heures  après une charge orale de 75 g de glucose1</a:t>
            </a:r>
          </a:p>
          <a:p>
            <a:r>
              <a:rPr lang="fr-FR" dirty="0"/>
              <a:t>Définition de chirurgie élective :</a:t>
            </a:r>
          </a:p>
          <a:p>
            <a:pPr lvl="1"/>
            <a:r>
              <a:rPr lang="fr-FR" dirty="0"/>
              <a:t>La chirurgie élective est une chirurgie programmée à l'avance car elle ne comporte pas d'urgence médicale.</a:t>
            </a:r>
          </a:p>
          <a:p>
            <a:pPr lvl="1"/>
            <a:r>
              <a:rPr lang="fr-FR" dirty="0"/>
              <a:t>La chirurgie élective est une chirurgie faite " à froid ",  du fait de son caractère non urgent.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9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 VOULEZ-VOUS ÉTUDIER EXACTEMENT?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Prévalence et facteurs de risque </a:t>
            </a:r>
          </a:p>
          <a:p>
            <a:r>
              <a:rPr lang="fr-FR" dirty="0"/>
              <a:t>de complications </a:t>
            </a:r>
            <a:r>
              <a:rPr lang="fr-FR" dirty="0" err="1"/>
              <a:t>périopératoires</a:t>
            </a:r>
            <a:r>
              <a:rPr lang="fr-FR" dirty="0"/>
              <a:t> </a:t>
            </a:r>
          </a:p>
          <a:p>
            <a:r>
              <a:rPr lang="fr-FR" dirty="0"/>
              <a:t>chez les patients adultes </a:t>
            </a:r>
          </a:p>
          <a:p>
            <a:r>
              <a:rPr lang="fr-FR" dirty="0"/>
              <a:t>atteints de diabète de type 2 </a:t>
            </a:r>
          </a:p>
          <a:p>
            <a:r>
              <a:rPr lang="fr-FR" dirty="0"/>
              <a:t>subissant une chirurgie élective</a:t>
            </a:r>
          </a:p>
          <a:p>
            <a:r>
              <a:rPr lang="fr-FR" dirty="0"/>
              <a:t>dans les hôpitaux publics de Casablanca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97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opérationnelle des variables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Complications de l’anesthésie</a:t>
            </a:r>
          </a:p>
          <a:p>
            <a:pPr lvl="1"/>
            <a:r>
              <a:rPr lang="fr-FR" dirty="0"/>
              <a:t>L’hypoxie</a:t>
            </a:r>
          </a:p>
          <a:p>
            <a:pPr lvl="1"/>
            <a:r>
              <a:rPr lang="fr-FR" dirty="0"/>
              <a:t>L’ischémie myocardique et l’infarctus du myocarde (IDM)</a:t>
            </a:r>
          </a:p>
          <a:p>
            <a:pPr lvl="1"/>
            <a:r>
              <a:rPr lang="fr-FR" dirty="0"/>
              <a:t>L’insuffisance cardiaque </a:t>
            </a:r>
          </a:p>
          <a:p>
            <a:pPr lvl="1"/>
            <a:r>
              <a:rPr lang="fr-FR" dirty="0"/>
              <a:t>Les troubles du rythme</a:t>
            </a:r>
          </a:p>
          <a:p>
            <a:pPr lvl="1"/>
            <a:r>
              <a:rPr lang="fr-FR" dirty="0"/>
              <a:t>L’hypotension artérielle (</a:t>
            </a:r>
            <a:r>
              <a:rPr lang="fr-FR" dirty="0" err="1"/>
              <a:t>hypoTA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Intubation difficile</a:t>
            </a:r>
          </a:p>
          <a:p>
            <a:pPr lvl="1"/>
            <a:r>
              <a:rPr lang="fr-FR" dirty="0"/>
              <a:t>Inhalation à l’intubation et à l’extubation </a:t>
            </a:r>
          </a:p>
          <a:p>
            <a:pPr lvl="1"/>
            <a:r>
              <a:rPr lang="fr-FR" dirty="0"/>
              <a:t>Masque l’hypoglycémie </a:t>
            </a:r>
          </a:p>
          <a:p>
            <a:pPr lvl="1"/>
            <a:r>
              <a:rPr lang="fr-FR" dirty="0"/>
              <a:t>Nausées vomissement post opératoire </a:t>
            </a:r>
          </a:p>
        </p:txBody>
      </p:sp>
    </p:spTree>
    <p:extLst>
      <p:ext uri="{BB962C8B-B14F-4D97-AF65-F5344CB8AC3E}">
        <p14:creationId xmlns:p14="http://schemas.microsoft.com/office/powerpoint/2010/main" val="3416100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Facteurs de risque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Variables démographiques</a:t>
            </a:r>
          </a:p>
          <a:p>
            <a:r>
              <a:rPr lang="fr-FR" dirty="0"/>
              <a:t>Variables liées à l'état de santé</a:t>
            </a:r>
          </a:p>
          <a:p>
            <a:r>
              <a:rPr lang="fr-FR" dirty="0"/>
              <a:t>Variables liées au diabète sucré</a:t>
            </a:r>
          </a:p>
          <a:p>
            <a:r>
              <a:rPr lang="fr-FR" dirty="0"/>
              <a:t>Variables liées à la chirurgie</a:t>
            </a:r>
          </a:p>
          <a:p>
            <a:r>
              <a:rPr lang="fr-FR" dirty="0"/>
              <a:t>Variables liées à l'anesthésie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09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et analyse des données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Codification des données</a:t>
            </a:r>
          </a:p>
          <a:p>
            <a:r>
              <a:rPr lang="fr-FR" dirty="0"/>
              <a:t>Saisie et validation des données</a:t>
            </a:r>
          </a:p>
          <a:p>
            <a:r>
              <a:rPr lang="fr-FR" dirty="0"/>
              <a:t>Analyse exploratoire et descriptive des données</a:t>
            </a:r>
          </a:p>
          <a:p>
            <a:r>
              <a:rPr lang="fr-FR" dirty="0"/>
              <a:t>Catégorisation des variables</a:t>
            </a:r>
          </a:p>
          <a:p>
            <a:r>
              <a:rPr lang="fr-FR" dirty="0"/>
              <a:t>Estimation de l'incidence des complications</a:t>
            </a:r>
          </a:p>
          <a:p>
            <a:r>
              <a:rPr lang="fr-FR" dirty="0"/>
              <a:t>Analyse </a:t>
            </a:r>
            <a:r>
              <a:rPr lang="fr-FR" dirty="0" err="1"/>
              <a:t>univariée</a:t>
            </a:r>
            <a:endParaRPr lang="fr-FR" dirty="0"/>
          </a:p>
          <a:p>
            <a:r>
              <a:rPr lang="fr-FR" dirty="0"/>
              <a:t>Analyse multivariée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Calendrier d'exécution du projet (18 semaines)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Autorisation (2 semaines)</a:t>
            </a:r>
          </a:p>
          <a:p>
            <a:r>
              <a:rPr lang="fr-FR" dirty="0"/>
              <a:t>Collecte de données  (4 semaines)</a:t>
            </a:r>
          </a:p>
          <a:p>
            <a:r>
              <a:rPr lang="fr-FR" dirty="0"/>
              <a:t>L'analyse des données (1 semaine)</a:t>
            </a:r>
          </a:p>
          <a:p>
            <a:r>
              <a:rPr lang="fr-FR" dirty="0"/>
              <a:t>Production et validation des résultats (1 semaine)</a:t>
            </a:r>
          </a:p>
          <a:p>
            <a:r>
              <a:rPr lang="fr-FR" dirty="0"/>
              <a:t>Présentation et discussion des résultats avec les parties prenantes (1 semaine)</a:t>
            </a:r>
          </a:p>
          <a:p>
            <a:r>
              <a:rPr lang="fr-FR" dirty="0"/>
              <a:t>Rédaction du premier projet d'articles (3 semaines)</a:t>
            </a:r>
          </a:p>
          <a:p>
            <a:r>
              <a:rPr lang="fr-FR" dirty="0"/>
              <a:t>Validation et amélioration des articles (2 semaines)</a:t>
            </a:r>
          </a:p>
          <a:p>
            <a:r>
              <a:rPr lang="fr-FR" dirty="0"/>
              <a:t>Production des articles finaux (2 semaines)</a:t>
            </a:r>
          </a:p>
          <a:p>
            <a:r>
              <a:rPr lang="fr-FR" dirty="0"/>
              <a:t>Préparation du soutenance du projet de fin d'études (2 semaines)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322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DB95-92E8-4115-A5EE-A620C844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Résultats</a:t>
            </a:r>
            <a:endParaRPr lang="en-GB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F54AB22-1A5E-4D35-90D1-976DD73E18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9416081"/>
              </p:ext>
            </p:extLst>
          </p:nvPr>
        </p:nvGraphicFramePr>
        <p:xfrm>
          <a:off x="581024" y="1977656"/>
          <a:ext cx="9860147" cy="4531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401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DB95-92E8-4115-A5EE-A620C844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Résultats</a:t>
            </a:r>
            <a:endParaRPr lang="en-GB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F54AB22-1A5E-4D35-90D1-976DD73E18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3342798"/>
              </p:ext>
            </p:extLst>
          </p:nvPr>
        </p:nvGraphicFramePr>
        <p:xfrm>
          <a:off x="581024" y="1977656"/>
          <a:ext cx="9860147" cy="4531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603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DB95-92E8-4115-A5EE-A620C844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Résultats</a:t>
            </a:r>
            <a:endParaRPr lang="en-GB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F54AB22-1A5E-4D35-90D1-976DD73E18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60728700"/>
              </p:ext>
            </p:extLst>
          </p:nvPr>
        </p:nvGraphicFramePr>
        <p:xfrm>
          <a:off x="581024" y="1977656"/>
          <a:ext cx="9860147" cy="4531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0145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9155-F0AD-4C1F-A05E-E01EC21A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Résultats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893683-A241-4CF6-95F7-8ADF759A08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55965" y="1923350"/>
            <a:ext cx="8100521" cy="4556543"/>
          </a:xfrm>
        </p:spPr>
      </p:pic>
    </p:spTree>
    <p:extLst>
      <p:ext uri="{BB962C8B-B14F-4D97-AF65-F5344CB8AC3E}">
        <p14:creationId xmlns:p14="http://schemas.microsoft.com/office/powerpoint/2010/main" val="2201452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8987-7591-40F7-8193-AFA5B16A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discussion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AB015C-EC72-449B-B87F-7C3A8BA3B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Limites de l'étude</a:t>
            </a:r>
          </a:p>
          <a:p>
            <a:pPr lvl="1"/>
            <a:r>
              <a:rPr lang="fr-FR" dirty="0"/>
              <a:t>Limite 1</a:t>
            </a:r>
          </a:p>
          <a:p>
            <a:pPr lvl="1"/>
            <a:r>
              <a:rPr lang="fr-FR" dirty="0"/>
              <a:t>Limite 2</a:t>
            </a:r>
          </a:p>
          <a:p>
            <a:pPr lvl="1"/>
            <a:r>
              <a:rPr lang="fr-FR" dirty="0"/>
              <a:t>Limite</a:t>
            </a:r>
          </a:p>
          <a:p>
            <a:r>
              <a:rPr lang="fr-FR" dirty="0"/>
              <a:t>Portée de la généralisation et de l'application Limites de l'étude</a:t>
            </a:r>
          </a:p>
          <a:p>
            <a:pPr lvl="1"/>
            <a:r>
              <a:rPr lang="en-GB" dirty="0"/>
              <a:t>Point 1</a:t>
            </a:r>
          </a:p>
          <a:p>
            <a:pPr lvl="1"/>
            <a:r>
              <a:rPr lang="en-GB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2932347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4186-1C7E-4D13-BB94-BD19CF5A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3FD1-9537-4F5D-874B-C3B440F37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Discussion du résultat principal 1</a:t>
            </a:r>
          </a:p>
          <a:p>
            <a:pPr lvl="1"/>
            <a:r>
              <a:rPr lang="fr-FR" dirty="0"/>
              <a:t>Point 1</a:t>
            </a:r>
          </a:p>
          <a:p>
            <a:pPr lvl="1"/>
            <a:r>
              <a:rPr lang="fr-FR" dirty="0"/>
              <a:t>Point 2</a:t>
            </a:r>
          </a:p>
          <a:p>
            <a:r>
              <a:rPr lang="fr-FR" dirty="0"/>
              <a:t>Discussion du résultat principal 2</a:t>
            </a:r>
          </a:p>
          <a:p>
            <a:pPr lvl="1"/>
            <a:r>
              <a:rPr lang="fr-FR" dirty="0"/>
              <a:t>Point 1</a:t>
            </a:r>
          </a:p>
          <a:p>
            <a:pPr lvl="1"/>
            <a:r>
              <a:rPr lang="fr-FR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2497957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4186-1C7E-4D13-BB94-BD19CF5A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3FD1-9537-4F5D-874B-C3B440F37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Discussion du résultat principal 3</a:t>
            </a:r>
          </a:p>
          <a:p>
            <a:pPr lvl="1"/>
            <a:r>
              <a:rPr lang="fr-FR" dirty="0"/>
              <a:t>Point 1</a:t>
            </a:r>
          </a:p>
          <a:p>
            <a:pPr lvl="1"/>
            <a:r>
              <a:rPr lang="fr-FR" dirty="0"/>
              <a:t>Point 2</a:t>
            </a:r>
          </a:p>
          <a:p>
            <a:r>
              <a:rPr lang="fr-FR" dirty="0"/>
              <a:t>Discussion du résultat principal 4</a:t>
            </a:r>
          </a:p>
          <a:p>
            <a:pPr lvl="1"/>
            <a:r>
              <a:rPr lang="fr-FR" dirty="0"/>
              <a:t>Point 1</a:t>
            </a:r>
          </a:p>
          <a:p>
            <a:pPr lvl="1"/>
            <a:r>
              <a:rPr lang="fr-FR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562841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5F0A-32E1-4FD0-B75A-E2C78776F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0BAE7-9D90-4E7C-8BC8-6C0935CCB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Conclusion 1</a:t>
            </a:r>
          </a:p>
          <a:p>
            <a:r>
              <a:rPr lang="fr-FR" dirty="0"/>
              <a:t>Conclusion 2</a:t>
            </a:r>
          </a:p>
          <a:p>
            <a:r>
              <a:rPr lang="fr-FR" dirty="0"/>
              <a:t>Conclusion 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076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2E5D-113A-46A4-AEC8-1179A8AA8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 </a:t>
            </a:r>
            <a:r>
              <a:rPr lang="en-GB" dirty="0" err="1"/>
              <a:t>alors</a:t>
            </a:r>
            <a:r>
              <a:rPr lang="en-GB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75BF7-A2D7-4807-828E-6735836E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Qu'est-ce que l'étude a ajouté au corpus de connaissances du domaine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8278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180</TotalTime>
  <Words>800</Words>
  <Application>Microsoft Office PowerPoint</Application>
  <PresentationFormat>Widescreen</PresentationFormat>
  <Paragraphs>158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Gill Sans MT</vt:lpstr>
      <vt:lpstr>Wingdings 2</vt:lpstr>
      <vt:lpstr>Dividende</vt:lpstr>
      <vt:lpstr>Titre du projet de fin d’études</vt:lpstr>
      <vt:lpstr>QUE VOULEZ-VOUS ÉTUDIER EXACTEMENT?</vt:lpstr>
      <vt:lpstr>Rationale et pertinence</vt:lpstr>
      <vt:lpstr>Pourquoi ce sujet est-il important?</vt:lpstr>
      <vt:lpstr>Prévalence élevée et croissante du diabète sucré au Maroc</vt:lpstr>
      <vt:lpstr>PowerPoint Presentation</vt:lpstr>
      <vt:lpstr>Prévalence du diabète sucré au Moyen-Orient et en Afrique du Nord</vt:lpstr>
      <vt:lpstr>Pathologies chirurgicales chez les patients diabétiques</vt:lpstr>
      <vt:lpstr>Pathologies chirurgicales chez les patients diabétiques</vt:lpstr>
      <vt:lpstr>Risque élevé d'anesthésie du patient diabétique</vt:lpstr>
      <vt:lpstr>Risque élevé d'anesthésie du patient diabétique</vt:lpstr>
      <vt:lpstr>Méthodologie de recherche</vt:lpstr>
      <vt:lpstr>Conception de l'étude</vt:lpstr>
      <vt:lpstr>Définition opérationnelle des variables</vt:lpstr>
      <vt:lpstr>QUE VOULEZ-VOUS ÉTUDIER EXACTEMENT?</vt:lpstr>
      <vt:lpstr>Définition opérationnelle des variables</vt:lpstr>
      <vt:lpstr>Facteurs de risque</vt:lpstr>
      <vt:lpstr>Traitement et analyse des données</vt:lpstr>
      <vt:lpstr>Calendrier d'exécution du projet (18 semaines)</vt:lpstr>
      <vt:lpstr>Résultats</vt:lpstr>
      <vt:lpstr>Résultats</vt:lpstr>
      <vt:lpstr>Résultats</vt:lpstr>
      <vt:lpstr>Résultats</vt:lpstr>
      <vt:lpstr>discussion</vt:lpstr>
      <vt:lpstr>discussion</vt:lpstr>
      <vt:lpstr>discussion</vt:lpstr>
      <vt:lpstr>Conclusions</vt:lpstr>
      <vt:lpstr>Et alors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du projet de fin d’études</dc:title>
  <dc:creator>KHALED</dc:creator>
  <cp:lastModifiedBy>Khaled Yassin</cp:lastModifiedBy>
  <cp:revision>26</cp:revision>
  <dcterms:created xsi:type="dcterms:W3CDTF">2019-02-13T22:50:04Z</dcterms:created>
  <dcterms:modified xsi:type="dcterms:W3CDTF">2022-09-17T19:34:47Z</dcterms:modified>
</cp:coreProperties>
</file>